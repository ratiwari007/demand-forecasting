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51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4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82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0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953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8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5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87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3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1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MILK SALES</a:t>
            </a:r>
            <a:br>
              <a:rPr lang="en-US" sz="2800" dirty="0"/>
            </a:br>
            <a:r>
              <a:rPr sz="2800" dirty="0"/>
              <a:t>Demand Forecasting Using Time Series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Holt-Winters vs SARIMA Model Evaluation</a:t>
            </a:r>
          </a:p>
          <a:p>
            <a:r>
              <a:rPr dirty="0"/>
              <a:t>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 evaluate and compare the performance of two time series forecasting models (Holt-Winters and SARIMA) across different time granularities:</a:t>
            </a:r>
          </a:p>
          <a:p>
            <a:r>
              <a:rPr dirty="0"/>
              <a:t>- Monthly</a:t>
            </a:r>
            <a:r>
              <a:rPr lang="en-US" dirty="0"/>
              <a:t>(Customer level and Item Level)</a:t>
            </a:r>
            <a:endParaRPr dirty="0"/>
          </a:p>
          <a:p>
            <a:r>
              <a:rPr dirty="0"/>
              <a:t>- Quarterly</a:t>
            </a:r>
            <a:r>
              <a:rPr lang="en-US" dirty="0"/>
              <a:t>(Customer level and Item Level)</a:t>
            </a:r>
            <a:endParaRPr dirty="0"/>
          </a:p>
          <a:p>
            <a:r>
              <a:t>- Yearly</a:t>
            </a:r>
            <a:r>
              <a:rPr lang="en-US"/>
              <a:t>(Customer level and Item Level)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Aggregate sales data at monthly, quarterly, and yearly levels</a:t>
            </a:r>
          </a:p>
          <a:p>
            <a:r>
              <a:t>2. Perform forecasting using Holt-Winters and SARIMA models</a:t>
            </a:r>
          </a:p>
          <a:p>
            <a:r>
              <a:t>3. Evaluate models using MAE, RMSE, and MAPE</a:t>
            </a:r>
          </a:p>
          <a:p>
            <a:r>
              <a:t>4. Compare performance across all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MAE (Mean Absolute Error)</a:t>
            </a:r>
          </a:p>
          <a:p>
            <a:r>
              <a:t>- RMSE (Root Mean Square Error)</a:t>
            </a:r>
          </a:p>
          <a:p>
            <a:r>
              <a:t>- MAPE (Mean Absolute Percentage Error)</a:t>
            </a:r>
          </a:p>
          <a:p>
            <a:endParaRPr/>
          </a:p>
          <a:p>
            <a:r>
              <a:t>Lower values indicate better forecasting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SARIMA outperformed Holt-Winters across all frequencies:</a:t>
            </a:r>
          </a:p>
          <a:p>
            <a:r>
              <a:t>- Lower MAE, RMSE, and MAPE</a:t>
            </a:r>
          </a:p>
          <a:p>
            <a:r>
              <a:t>- More stable and accurate on yearly data</a:t>
            </a:r>
          </a:p>
          <a:p>
            <a:r>
              <a:t>- Better adaptation to seasonality and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05" y="296099"/>
            <a:ext cx="5937755" cy="1188720"/>
          </a:xfrm>
        </p:spPr>
        <p:txBody>
          <a:bodyPr/>
          <a:lstStyle/>
          <a:p>
            <a:r>
              <a:rPr dirty="0"/>
              <a:t>Model Comparison Chart</a:t>
            </a:r>
          </a:p>
        </p:txBody>
      </p:sp>
      <p:pic>
        <p:nvPicPr>
          <p:cNvPr id="3" name="Picture 2" descr="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39" y="1897627"/>
            <a:ext cx="6243484" cy="4807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SARIMA is a more robust model for demand forecasting across time frequencies</a:t>
            </a:r>
          </a:p>
          <a:p>
            <a:r>
              <a:rPr dirty="0"/>
              <a:t>- Suitable for capturing complex seasonal patterns</a:t>
            </a:r>
          </a:p>
          <a:p>
            <a:r>
              <a:rPr dirty="0"/>
              <a:t>- Recommended for production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2A1F-D89E-3039-647B-BF057148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-1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9FA3E-6129-C3E1-9419-780268406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7" y="2638045"/>
            <a:ext cx="7737986" cy="3762755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1.Consistent Growth in Demand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From the trend component of our decomposition and model, we observed a steady upward movement in monthly sales.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This suggests the customer base or milk usage is increasing consistently over time—possibly due to: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Urban expansion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Retail partnerships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Growth in customer demand (households, cafes, etc.)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Seasonal spikes (e.g., summer/winter milk demand)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</a:rPr>
              <a:t>Business Insight: Scale operations gradually to meet rising demand.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159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6011-52F4-0B93-E829-9452A3BA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045" y="964692"/>
            <a:ext cx="5937755" cy="903437"/>
          </a:xfrm>
        </p:spPr>
        <p:txBody>
          <a:bodyPr/>
          <a:lstStyle/>
          <a:p>
            <a:r>
              <a:rPr lang="en-US" dirty="0"/>
              <a:t>INSIGHTS -11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02D68-D640-C32E-42EB-C9C138A58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110" y="1946787"/>
            <a:ext cx="5937755" cy="4699819"/>
          </a:xfrm>
        </p:spPr>
        <p:txBody>
          <a:bodyPr>
            <a:noAutofit/>
          </a:bodyPr>
          <a:lstStyle/>
          <a:p>
            <a:r>
              <a:rPr lang="en-US" dirty="0"/>
              <a:t>2.Predictable Seasonality Pattern</a:t>
            </a:r>
          </a:p>
          <a:p>
            <a:endParaRPr lang="en-US" dirty="0"/>
          </a:p>
          <a:p>
            <a:r>
              <a:rPr lang="en-US" dirty="0"/>
              <a:t>The seasonal component showed repeated monthly patterns.</a:t>
            </a:r>
          </a:p>
          <a:p>
            <a:endParaRPr lang="en-US" dirty="0"/>
          </a:p>
          <a:p>
            <a:r>
              <a:rPr lang="en-US" dirty="0"/>
              <a:t>For example: Sales spike in summer or festival seasons (like April–June or October), and slightly dip in others.</a:t>
            </a:r>
          </a:p>
          <a:p>
            <a:endParaRPr lang="en-US" dirty="0"/>
          </a:p>
          <a:p>
            <a:r>
              <a:rPr lang="en-US" dirty="0"/>
              <a:t>This pattern is reliable because it’s visible in all 3 years of data.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Business Insight: Use seasonality to forecast material needs, workforce shifts, and logistics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797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EFCD-8E82-67FD-904E-D03411BB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F4ABD-A8A4-8C0E-B490-8AF5D9270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638045"/>
            <a:ext cx="5937755" cy="3615271"/>
          </a:xfrm>
        </p:spPr>
        <p:txBody>
          <a:bodyPr>
            <a:noAutofit/>
          </a:bodyPr>
          <a:lstStyle/>
          <a:p>
            <a:r>
              <a:rPr lang="en-US" dirty="0"/>
              <a:t>3.Model Reliability</a:t>
            </a:r>
          </a:p>
          <a:p>
            <a:endParaRPr lang="en-US" dirty="0"/>
          </a:p>
          <a:p>
            <a:r>
              <a:rPr lang="en-US" dirty="0"/>
              <a:t>Forecasted values are closely aligned with the actual test values (low MAE &amp; RMSE).</a:t>
            </a:r>
          </a:p>
          <a:p>
            <a:endParaRPr lang="en-US" dirty="0"/>
          </a:p>
          <a:p>
            <a:r>
              <a:rPr lang="en-US" dirty="0"/>
              <a:t>This indicates that our model can be trusted for operational decision-making, especially at a monthly/quarterly level to meet both Customer as well as Item level demand.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Business Insight: Use this model regularly to forecast and review month-on-month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131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B04EE-A3BE-31C7-8D81-11DE9F38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OPTIMIZATION- </a:t>
            </a:r>
            <a:r>
              <a:rPr lang="en-US" dirty="0" err="1"/>
              <a:t>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943B-20EF-687D-2845-F17F3E9E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Suggestion for Inventory Optimization Strategies</a:t>
            </a:r>
          </a:p>
          <a:p>
            <a:endParaRPr lang="en-US" dirty="0"/>
          </a:p>
          <a:p>
            <a:r>
              <a:rPr lang="en-US" dirty="0"/>
              <a:t>Now based on these insights, here’s a detailed inventory planning strategy: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Dynamic Inventory Adjustment (Seasonal Scaling) Increase stock 2–3 months before high-demand months (e.g., March for April-May peak).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During off-peak months (like January, July), scale down stock to minimize cold storage costs and stales.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As we have seen in our analysis Sales Quantity are positively correlated with Stales Quantity(0.53),  it is important overstocking of milk product “Wastage control = direct cost savings”.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Helps avoid understocking (lost sales) and overstocking (waste).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866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A6091-7508-84BF-8E5D-BD2C271E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2F55-B81A-75E4-728D-3C49B0B88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OPTIMIZATION-11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7DF20-E960-C3C4-3E7B-A120A477B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Suggestion for Inventory Optimization Strategies</a:t>
            </a:r>
          </a:p>
          <a:p>
            <a:r>
              <a:rPr lang="en-US" dirty="0"/>
              <a:t>Since we have already seen in our analysis there is strong seasonality in milk sales pattern, it is advisable to run Monthly Forecast Review Cycle</a:t>
            </a:r>
          </a:p>
          <a:p>
            <a:r>
              <a:rPr lang="en-US" dirty="0"/>
              <a:t>Items/Routes with excess returns or unsold items.</a:t>
            </a:r>
          </a:p>
          <a:p>
            <a:endParaRPr lang="en-US" dirty="0"/>
          </a:p>
          <a:p>
            <a:r>
              <a:rPr lang="en-US" dirty="0"/>
              <a:t>Apply demand limits to those specific routes/Items in upcoming months.</a:t>
            </a:r>
          </a:p>
          <a:p>
            <a:endParaRPr lang="en-US" dirty="0"/>
          </a:p>
          <a:p>
            <a:r>
              <a:rPr lang="en-US" dirty="0"/>
              <a:t>Re-run forecasts every month with updated data.</a:t>
            </a:r>
          </a:p>
        </p:txBody>
      </p:sp>
    </p:spTree>
    <p:extLst>
      <p:ext uri="{BB962C8B-B14F-4D97-AF65-F5344CB8AC3E}">
        <p14:creationId xmlns:p14="http://schemas.microsoft.com/office/powerpoint/2010/main" val="1309387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32E1-8837-06CA-7251-4C039A50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F3C14-2A40-0B52-F74A-5222967B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To Optimize the reliability and Inventory of the product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Demand Planning - Scale production monthly based on forecast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Inventory Control - Adjust stock seasonally and per route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Logistics - Plan deliveries and storage ahead of demand peaks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Loss Reduction - Analyze stales, buffer stock smartly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Monitoring - Re-evaluate forecast and revise inventory plans monthly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299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5A09-2504-82D4-96CC-05DB58E8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045" y="964692"/>
            <a:ext cx="5937755" cy="4452882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14348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98</TotalTime>
  <Words>655</Words>
  <Application>Microsoft Office PowerPoint</Application>
  <PresentationFormat>On-screen Show (4:3)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Gill Sans MT</vt:lpstr>
      <vt:lpstr>Helvetica Neue</vt:lpstr>
      <vt:lpstr>Wingdings</vt:lpstr>
      <vt:lpstr>Parcel</vt:lpstr>
      <vt:lpstr>MILK SALES Demand Forecasting Using Time Series Models</vt:lpstr>
      <vt:lpstr>Objective</vt:lpstr>
      <vt:lpstr>Methodology</vt:lpstr>
      <vt:lpstr>Evaluation Metrics</vt:lpstr>
      <vt:lpstr>Results Summary</vt:lpstr>
      <vt:lpstr>Model Comparison Chart</vt:lpstr>
      <vt:lpstr>Conclusion</vt:lpstr>
      <vt:lpstr>INSIGHTS -1</vt:lpstr>
      <vt:lpstr>INSIGHTS -11</vt:lpstr>
      <vt:lpstr>RELIABILITY</vt:lpstr>
      <vt:lpstr>INVENTORY OPTIMIZATION- i</vt:lpstr>
      <vt:lpstr>INVENTORY OPTIMIZATION-11</vt:lpstr>
      <vt:lpstr>RecOMMENDATION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Tiwari</cp:lastModifiedBy>
  <cp:revision>2</cp:revision>
  <dcterms:created xsi:type="dcterms:W3CDTF">2013-01-27T09:14:16Z</dcterms:created>
  <dcterms:modified xsi:type="dcterms:W3CDTF">2025-04-20T17:35:47Z</dcterms:modified>
  <cp:category/>
</cp:coreProperties>
</file>